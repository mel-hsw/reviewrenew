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image" Target="../media/image-9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2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CMU 94-844 · GENERATIVE AI LAB · SPRING 2026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Generating Product Images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260604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i="1" dirty="0">
                <a:solidFill>
                  <a:srgbClr val="F9C7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Customer Reviews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840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orchestrated multi-agent pipeline: RAG → structured LLM analysis → dual-backend diffusion → VLM self-correction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937760"/>
            <a:ext cx="54864" cy="9144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4937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523036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Mohammad Taha Zakir · Mel Wong · Asli Gulcur · Smridhi Patwari · Vishnu Bala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55778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Beibei Li · Heinz College, Carnegie Mellon University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601200" y="548640"/>
            <a:ext cx="201168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0" y="548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164592" cy="16459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484632"/>
            <a:ext cx="411480" cy="1828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4440" y="3200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PROJECT OVERVIEW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Challenge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303520" cy="438912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91640"/>
            <a:ext cx="109728" cy="43891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8745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224028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a language model read thousands of customer reviews and tell a diffusion model what a product actually looks like?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68680" y="461772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build a pipeline that extracts visual cues from text, turns them into grounded image prompts, renders candidates across two models, and self-corrects failures with a VLM critic.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691640"/>
            <a:ext cx="2743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0" y="1691640"/>
            <a:ext cx="274320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9202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446520" y="2468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6520" y="29260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diverse products + listings + reviews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44000" y="1691640"/>
            <a:ext cx="2743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44000" y="1691640"/>
            <a:ext cx="274320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72600" y="19202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372600" y="2468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LLM Analysis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372600" y="29260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 index · 12-query retrieval · structured brief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3977640"/>
            <a:ext cx="2743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0" y="3977640"/>
            <a:ext cx="274320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42062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446520" y="4754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Generation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46520" y="52120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DALL·E 3 + Gemini 3.1 · iterative prompts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144000" y="3977640"/>
            <a:ext cx="2743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144000" y="3977640"/>
            <a:ext cx="274320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72600" y="42062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9372600" y="4754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Workflow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372600" y="52120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· harnesses · VLM critic loop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CMU 94-844 · Generative AI Lab · Spring 2026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164592" cy="16459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484632"/>
            <a:ext cx="411480" cy="1828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4440" y="3200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PRODUCT SELECTION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Products, Three Failure Modes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Backward-design criterion: each product had to create a distinct challenge for diffusion models so Q3 comparisons would be analytically interesting.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965960"/>
            <a:ext cx="36576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8" name="Image 0" descr="/sessions/gracious-funny-cray/mnt/reviewrenew/data/og-product-images/pet-be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2240280"/>
            <a:ext cx="3017520" cy="20116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85800" y="4389120"/>
            <a:ext cx="3017520" cy="27432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43891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SOFT-GOODS TEXTURE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85800" y="4754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Pet Bed Donut Cuddler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85800" y="51663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Fur, plushness, loft · color accuracy · washability. Tests whether diffusion can render soft textures believably.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85800" y="58978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~68K ratings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251960" y="1965960"/>
            <a:ext cx="36576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15" name="Image 1" descr="/sessions/gracious-funny-cray/mnt/reviewrenew/data/og-product-images/cerave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72000" y="2240280"/>
            <a:ext cx="3017520" cy="201168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572000" y="4389120"/>
            <a:ext cx="3017520" cy="27432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572000" y="43891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CPG PACKAGING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4572000" y="4754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CeraVe Hydrating Cleanser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4572000" y="51663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Micro-text on a bottle · pump integrity · lotion-not-foam consistency. Classic label hallucination challenge.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572000" y="58978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~500 reviews sampled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8138160" y="1965960"/>
            <a:ext cx="36576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22" name="Image 2" descr="/sessions/gracious-funny-cray/mnt/reviewrenew/data/og-product-images/cap-clean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458200" y="2240280"/>
            <a:ext cx="3017520" cy="201168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8458200" y="4389120"/>
            <a:ext cx="3017520" cy="27432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458200" y="43891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 PLASTIC GEOMETRY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8458200" y="4754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YEENOR Hat Washer Cage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8458200" y="51663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Ribbed molded plastic · clip-secured 3D silhouette. Strong geometry test for diffusion models.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8458200" y="58978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~21K ratings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CMU 94-844 · Generative AI Lab · Spring 2026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164592" cy="16459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484632"/>
            <a:ext cx="411480" cy="1828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4440" y="3200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DATA COLLECTION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Scraping Walls to Curated Corpus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tried first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scraping of Amazon product pages returned 503 errors and CAPTCHA challenges. Live scraping introduces fragility (rate limits, bot-detection, layout drift) that breaks academic reproducibility.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3375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we landed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379476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Reviews 2023 dataset (Hou et al., 2024; McAuley Lab, UCSD) — per-category JSONL with product metadata and review text. We pulled slices for Pet Supplies, Beauty, and Home and filtered to our three ASINs.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5440680"/>
            <a:ext cx="5486400" cy="7315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544068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for reproducible academic work, curated datasets beat live scraping.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0" y="1554480"/>
            <a:ext cx="5394960" cy="466344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17373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PROTOCOL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75120" y="2697480"/>
            <a:ext cx="4846320" cy="18288"/>
          </a:xfrm>
          <a:prstGeom prst="rect">
            <a:avLst/>
          </a:prstGeom>
          <a:solidFill>
            <a:srgbClr val="2A3570"/>
          </a:solidFill>
          <a:ln w="12700">
            <a:solidFill>
              <a:srgbClr val="2A35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21945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778240" y="21945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Reviews 2023 (curated)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75120" y="3291840"/>
            <a:ext cx="4846320" cy="18288"/>
          </a:xfrm>
          <a:prstGeom prst="rect">
            <a:avLst/>
          </a:prstGeom>
          <a:solidFill>
            <a:srgbClr val="2A3570"/>
          </a:solidFill>
          <a:ln w="12700">
            <a:solidFill>
              <a:srgbClr val="2A357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27889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filter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778240" y="27889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len(text) &gt; 20, newest first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0" y="3886200"/>
            <a:ext cx="4846320" cy="18288"/>
          </a:xfrm>
          <a:prstGeom prst="rect">
            <a:avLst/>
          </a:prstGeom>
          <a:solidFill>
            <a:srgbClr val="2A3570"/>
          </a:solidFill>
          <a:ln w="12700">
            <a:solidFill>
              <a:srgbClr val="2A357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33832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per product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778240" y="33832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reviews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675120" y="4480560"/>
            <a:ext cx="4846320" cy="18288"/>
          </a:xfrm>
          <a:prstGeom prst="rect">
            <a:avLst/>
          </a:prstGeom>
          <a:solidFill>
            <a:srgbClr val="2A3570"/>
          </a:solidFill>
          <a:ln w="12700">
            <a:solidFill>
              <a:srgbClr val="2A357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39776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fields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778240" y="39776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· rating · title · date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675120" y="5074920"/>
            <a:ext cx="4846320" cy="18288"/>
          </a:xfrm>
          <a:prstGeom prst="rect">
            <a:avLst/>
          </a:prstGeom>
          <a:solidFill>
            <a:srgbClr val="2A3570"/>
          </a:solidFill>
          <a:ln w="12700">
            <a:solidFill>
              <a:srgbClr val="2A357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0" y="45720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fields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778240" y="45720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· description · image URLs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675120" y="5669280"/>
            <a:ext cx="4846320" cy="18288"/>
          </a:xfrm>
          <a:prstGeom prst="rect">
            <a:avLst/>
          </a:prstGeom>
          <a:solidFill>
            <a:srgbClr val="2A3570"/>
          </a:solidFill>
          <a:ln w="12700">
            <a:solidFill>
              <a:srgbClr val="2A357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75120" y="51663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products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778240" y="51663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across 3 categories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CMU 94-844 · Generative AI Lab · Spring 2026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164592" cy="16459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484632"/>
            <a:ext cx="411480" cy="1828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4440" y="3200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· TEXT ANALYSIS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Infrastructure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text + reviews → chunks → embeddings → ChromaDB → 12-query retrieval. Every decision is designed to get the LLM the right evidence.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2148840"/>
            <a:ext cx="201168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0F1B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99032" y="1947672"/>
            <a:ext cx="402336" cy="402336"/>
          </a:xfrm>
          <a:prstGeom prst="ellipse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99032" y="1947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2423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Chunk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29260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paragraph-batch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≤400 tokens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 rot="5400000">
            <a:off x="2642616" y="2788920"/>
            <a:ext cx="164592" cy="182880"/>
          </a:xfrm>
          <a:prstGeom prst="rtTriangl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34640" y="2148840"/>
            <a:ext cx="201168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0F1B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39312" y="1947672"/>
            <a:ext cx="402336" cy="402336"/>
          </a:xfrm>
          <a:prstGeom prst="ellipse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39312" y="1947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834640" y="2423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Embed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971800" y="29260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text-embedding-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3-small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 rot="5400000">
            <a:off x="4882896" y="2788920"/>
            <a:ext cx="164592" cy="182880"/>
          </a:xfrm>
          <a:prstGeom prst="rtTriangl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74920" y="2148840"/>
            <a:ext cx="201168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0F1B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79592" y="1947672"/>
            <a:ext cx="402336" cy="402336"/>
          </a:xfrm>
          <a:prstGeom prst="ellipse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79592" y="1947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74920" y="2423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Index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212080" y="29260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(persistent)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 rot="5400000">
            <a:off x="7123176" y="2788920"/>
            <a:ext cx="164592" cy="182880"/>
          </a:xfrm>
          <a:prstGeom prst="rtTriangl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0" y="2148840"/>
            <a:ext cx="201168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0F1B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19872" y="1947672"/>
            <a:ext cx="402336" cy="402336"/>
          </a:xfrm>
          <a:prstGeom prst="ellipse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19872" y="1947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315200" y="2423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Retrieve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452360" y="29260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targeted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 rot="5400000">
            <a:off x="9363456" y="2788920"/>
            <a:ext cx="164592" cy="182880"/>
          </a:xfrm>
          <a:prstGeom prst="rtTriangl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55480" y="2148840"/>
            <a:ext cx="201168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0F1B3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360152" y="1947672"/>
            <a:ext cx="402336" cy="402336"/>
          </a:xfrm>
          <a:prstGeom prst="ellipse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360152" y="1947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555480" y="2423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Dedupe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692640" y="29260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53–67 unique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/ product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4160520"/>
            <a:ext cx="55778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8640" y="4160520"/>
            <a:ext cx="73152" cy="20116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42976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Chunking A/B: Sliding vs. Paragraph-Batch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77240" y="470916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strategies indexed 502 chunks total. Differences of ≤1 chunk per product. Amazon reviews are short self-contained paragraphs, so sliding windows over a 200-word review inflate the index without enriching retrieval. We adopted paragraph-batch.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00800" y="4160520"/>
            <a:ext cx="5394960" cy="201168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29400" y="4297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CHUNKS RETRIEVED (12 queries, dedup)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675120" y="4754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 Bed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229600" y="4809744"/>
            <a:ext cx="2926080" cy="164592"/>
          </a:xfrm>
          <a:prstGeom prst="rect">
            <a:avLst/>
          </a:prstGeom>
          <a:solidFill>
            <a:srgbClr val="1A2654"/>
          </a:solidFill>
          <a:ln w="12700">
            <a:solidFill>
              <a:srgbClr val="1A265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229600" y="4809744"/>
            <a:ext cx="2926080" cy="16459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129284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675120" y="5166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 Washer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229600" y="5221224"/>
            <a:ext cx="2926080" cy="164592"/>
          </a:xfrm>
          <a:prstGeom prst="rect">
            <a:avLst/>
          </a:prstGeom>
          <a:solidFill>
            <a:srgbClr val="1A2654"/>
          </a:solidFill>
          <a:ln w="12700">
            <a:solidFill>
              <a:srgbClr val="1A265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229600" y="5221224"/>
            <a:ext cx="2445679" cy="16459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1292840" y="5166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675120" y="5577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CeraVe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8229600" y="5632704"/>
            <a:ext cx="2926080" cy="164592"/>
          </a:xfrm>
          <a:prstGeom prst="rect">
            <a:avLst/>
          </a:prstGeom>
          <a:solidFill>
            <a:srgbClr val="1A2654"/>
          </a:solidFill>
          <a:ln w="12700">
            <a:solidFill>
              <a:srgbClr val="1A265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29600" y="5632704"/>
            <a:ext cx="2314660" cy="16459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1292840" y="5577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CMU 94-844 · Generative AI Lab · Spring 2026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164592" cy="16459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484632"/>
            <a:ext cx="411480" cy="1828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4440" y="3200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· LLM ANALYSIS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Insights Analyst Agent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4114800" cy="466344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54480"/>
            <a:ext cx="411480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737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0116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gpt-5.4-mini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77240" y="25786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0.35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3017520"/>
            <a:ext cx="3657600" cy="18288"/>
          </a:xfrm>
          <a:prstGeom prst="rect">
            <a:avLst/>
          </a:prstGeom>
          <a:solidFill>
            <a:srgbClr val="2A3570"/>
          </a:solidFill>
          <a:ln w="12700">
            <a:solidFill>
              <a:srgbClr val="2A35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154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3429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e-commerce analyst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77240" y="3886200"/>
            <a:ext cx="3657600" cy="18288"/>
          </a:xfrm>
          <a:prstGeom prst="rect">
            <a:avLst/>
          </a:prstGeom>
          <a:solidFill>
            <a:srgbClr val="2A3570"/>
          </a:solidFill>
          <a:ln w="12700">
            <a:solidFill>
              <a:srgbClr val="2A35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SCHEMA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4297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ReviewImageryBrief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7240" y="470916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Pydantic-validated. Every planned shot carries a rationale_from_reviews field — analytical traceability by design.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15544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7-step chain of thought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029200" y="2148840"/>
            <a:ext cx="347472" cy="34747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2148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532120" y="2103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norms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32120" y="2359152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shot types persuade in this category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0" y="2724912"/>
            <a:ext cx="347472" cy="34747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2724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532120" y="26791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landscape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532120" y="2935224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Needs, benefits, concerns from retrieved excerpts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0" y="3300984"/>
            <a:ext cx="347472" cy="34747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33009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532120" y="32552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vs. reviews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532120" y="3511296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bullets reviewers elevate or dispute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029200" y="3877056"/>
            <a:ext cx="347472" cy="34747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0" y="38770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532120" y="38313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Cross-review benefits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532120" y="4087368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agreement across reviewers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029200" y="4453128"/>
            <a:ext cx="347472" cy="34747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0" y="4453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532120" y="44074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visual codes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532120" y="4663440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On-brand palette and mood cues from text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029200" y="5029200"/>
            <a:ext cx="347472" cy="34747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0" y="5029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532120" y="4983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 plan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532120" y="5239512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shots, one clear job per shot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029200" y="5605272"/>
            <a:ext cx="347472" cy="34747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0" y="5605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532120" y="55595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532120" y="5815584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last — fully grounded in the chain above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CMU 94-844 · Generative AI Lab · Spring 2026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164592" cy="16459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484632"/>
            <a:ext cx="411480" cy="1828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4440" y="3200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· SAMPLE OUTPUT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CeraVe Planned Shots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1155680" cy="1005840"/>
          </a:xfrm>
          <a:prstGeom prst="rect">
            <a:avLst/>
          </a:prstGeom>
          <a:solidFill>
            <a:srgbClr val="0A1229"/>
          </a:solidFill>
          <a:ln w="12700">
            <a:solidFill>
              <a:srgbClr val="0A122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6304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188720" y="1664208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lotion-form, non-foaming face wash positioned as gentle, fragrance-free, and moisturizing. Reviewers describe a soft, creamy, light-lotion feel that leaves skin clean but not stripped. The emotional tone is clinical, dependable, and comfort-first.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11155680" cy="41148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74320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43000" y="27432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703320" y="27432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RATIONALE (from reviews)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154680"/>
            <a:ext cx="11155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" y="3319272"/>
            <a:ext cx="365760" cy="36576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319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315468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product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11880" y="3154680"/>
            <a:ext cx="8001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the exact bottle — address leakage/pump worries with intact, sealed presentation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721608"/>
            <a:ext cx="11155680" cy="566928"/>
          </a:xfrm>
          <a:prstGeom prst="rect">
            <a:avLst/>
          </a:prstGeom>
          <a:solidFill>
            <a:srgbClr val="F0EFE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" y="3886200"/>
            <a:ext cx="365760" cy="36576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88720" y="372160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in-use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11880" y="3721608"/>
            <a:ext cx="8001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lotion-like spread (not suds) on damp skin — reinforce skin-feel consensus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288536"/>
            <a:ext cx="11155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" y="4453128"/>
            <a:ext cx="365760" cy="36576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" y="4453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88720" y="428853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texture macro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11880" y="4288536"/>
            <a:ext cx="8001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the biggest expectation gap: not bubbly, but creamy and non-aerated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855464"/>
            <a:ext cx="11155680" cy="566928"/>
          </a:xfrm>
          <a:prstGeom prst="rect">
            <a:avLst/>
          </a:prstGeom>
          <a:solidFill>
            <a:srgbClr val="F0EFE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3232" y="5020056"/>
            <a:ext cx="365760" cy="36576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" y="5020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88720" y="485546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 detail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611880" y="4855464"/>
            <a:ext cx="8001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Pump/cap geometry addressing repeated packaging complaints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5422392"/>
            <a:ext cx="11155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13232" y="5586984"/>
            <a:ext cx="365760" cy="36576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3232" y="55869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188720" y="542239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routine context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611880" y="5422392"/>
            <a:ext cx="8001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frame reinforcing AM/PM staple for sensitive skin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CMU 94-844 · Generative AI Lab · Spring 2026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164592" cy="16459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484632"/>
            <a:ext cx="411480" cy="1828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4440" y="3200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· IMAGE GENERATION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Creative Director Agent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structured LLM call converts the grounded brief into photography-style prompts tuned for diffusion models.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2011680"/>
            <a:ext cx="36576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286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731520" y="3063240"/>
            <a:ext cx="731520" cy="36576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200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Lighting &amp; Staging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31520" y="3840480"/>
            <a:ext cx="3017520" cy="594360"/>
          </a:xfrm>
          <a:prstGeom prst="rect">
            <a:avLst/>
          </a:prstGeom>
          <a:solidFill>
            <a:srgbClr val="F0EFE8"/>
          </a:solidFill>
          <a:ln w="12700">
            <a:solidFill>
              <a:srgbClr val="F0EF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8404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“soft neutral daylight”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461772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Prescribes exact lighting conditions and scene composition per shot role — hero, detail, lifestyle.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51960" y="2011680"/>
            <a:ext cx="36576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0" y="2286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200" dirty="0"/>
          </a:p>
        </p:txBody>
      </p:sp>
      <p:sp>
        <p:nvSpPr>
          <p:cNvPr id="16" name="Shape 14"/>
          <p:cNvSpPr/>
          <p:nvPr/>
        </p:nvSpPr>
        <p:spPr>
          <a:xfrm>
            <a:off x="4572000" y="3063240"/>
            <a:ext cx="731520" cy="36576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3200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 Textures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572000" y="3840480"/>
            <a:ext cx="3017520" cy="594360"/>
          </a:xfrm>
          <a:prstGeom prst="rect">
            <a:avLst/>
          </a:prstGeom>
          <a:solidFill>
            <a:srgbClr val="F0EFE8"/>
          </a:solidFill>
          <a:ln w="12700">
            <a:solidFill>
              <a:srgbClr val="F0EF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38404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“rich brown faux-fur depth”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0" y="461772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descriptors anchor diffusion rendering to the material reality described in reviews.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92440" y="2011680"/>
            <a:ext cx="36576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412480" y="2286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200" dirty="0"/>
          </a:p>
        </p:txBody>
      </p:sp>
      <p:sp>
        <p:nvSpPr>
          <p:cNvPr id="23" name="Shape 21"/>
          <p:cNvSpPr/>
          <p:nvPr/>
        </p:nvSpPr>
        <p:spPr>
          <a:xfrm>
            <a:off x="8412480" y="3063240"/>
            <a:ext cx="731520" cy="36576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0" y="3200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Negative Constraints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412480" y="3840480"/>
            <a:ext cx="3017520" cy="594360"/>
          </a:xfrm>
          <a:prstGeom prst="rect">
            <a:avLst/>
          </a:prstGeom>
          <a:solidFill>
            <a:srgbClr val="F0EFE8"/>
          </a:solidFill>
          <a:ln w="12700">
            <a:solidFill>
              <a:srgbClr val="F0EF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49640" y="38404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“no fake seals, no barcode”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412480" y="461772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exclusions suppress hallucinated text and keep the product silhouette clean.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CMU 94-844 · Generative AI Lab · Spring 2026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164592" cy="16459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484632"/>
            <a:ext cx="411480" cy="1828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4440" y="3200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· VISUAL COMPARISON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Original vs. AI-Generated Hero Shots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prompts, two backends. Qualitative inspection of each product's hero frame against the listing photo.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11247120" cy="36576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202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468880" y="1920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Listing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760720" y="1920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(dall-e-3)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052560" y="1920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(flash-img)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377440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Pet Bed</a:t>
            </a:r>
            <a:endParaRPr lang="en-US" sz="1500" dirty="0"/>
          </a:p>
        </p:txBody>
      </p:sp>
      <p:pic>
        <p:nvPicPr>
          <p:cNvPr id="13" name="Image 0" descr="/sessions/gracious-funny-cray/mnt/reviewrenew/data/og-product-images/pet-be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926080" y="2414016"/>
            <a:ext cx="2103120" cy="96012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852160" y="2432304"/>
            <a:ext cx="2834640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52160" y="24688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render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943600" y="278892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Faux-fur depth · palette faithful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9144000" y="2432304"/>
            <a:ext cx="2834640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44000" y="24688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render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9235440" y="278892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Warmer environment · richer context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40080" y="3520440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CeraVe</a:t>
            </a:r>
            <a:endParaRPr lang="en-US" sz="1500" dirty="0"/>
          </a:p>
        </p:txBody>
      </p:sp>
      <p:pic>
        <p:nvPicPr>
          <p:cNvPr id="21" name="Image 1" descr="/sessions/gracious-funny-cray/mnt/reviewrenew/data/og-product-images/cerave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926080" y="3557016"/>
            <a:ext cx="2103120" cy="960120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5852160" y="3575304"/>
            <a:ext cx="2834640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852160" y="36118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render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5943600" y="393192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bottle · label-safe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9144000" y="3575304"/>
            <a:ext cx="2834640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9144000" y="36118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render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9235440" y="393192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Warmer environment · richer context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640080" y="4663440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Hat Washer</a:t>
            </a:r>
            <a:endParaRPr lang="en-US" sz="1500" dirty="0"/>
          </a:p>
        </p:txBody>
      </p:sp>
      <p:pic>
        <p:nvPicPr>
          <p:cNvPr id="29" name="Image 2" descr="/sessions/gracious-funny-cray/mnt/reviewrenew/data/og-product-images/cap-clean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926080" y="4700016"/>
            <a:ext cx="2103120" cy="960120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5852160" y="4718304"/>
            <a:ext cx="2834640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5852160" y="47548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render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5943600" y="507492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 3D geometry accurate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9144000" y="4718304"/>
            <a:ext cx="2834640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9144000" y="47548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render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9235440" y="507492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Warmer environment · richer context</a:t>
            </a:r>
            <a:endParaRPr lang="en-US" sz="1100" dirty="0"/>
          </a:p>
        </p:txBody>
      </p:sp>
      <p:sp>
        <p:nvSpPr>
          <p:cNvPr id="36" name="Shape 31"/>
          <p:cNvSpPr/>
          <p:nvPr/>
        </p:nvSpPr>
        <p:spPr>
          <a:xfrm>
            <a:off x="548640" y="5897880"/>
            <a:ext cx="11247120" cy="4572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731520" y="5897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pipeline approximates silhouettes, colors, and lifestyle context — but no model achieves pixel-perfect SKU fidelity or accurate micro-text.</a:t>
            </a:r>
            <a:endParaRPr lang="en-US" sz="1200" dirty="0"/>
          </a:p>
        </p:txBody>
      </p:sp>
      <p:sp>
        <p:nvSpPr>
          <p:cNvPr id="38" name="Text 3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CMU 94-844 · Generative AI Lab · Spring 2026</a:t>
            </a:r>
            <a:endParaRPr lang="en-US" sz="1000" dirty="0"/>
          </a:p>
        </p:txBody>
      </p:sp>
      <p:sp>
        <p:nvSpPr>
          <p:cNvPr id="39" name="Text 34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164592" cy="16459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484632"/>
            <a:ext cx="411480" cy="1828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4440" y="3200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· MODEL COMPARISON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OpenAI vs. Gemini: Where Each Wins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received identical planned_shots[].prompt content with only a short provider-specific suffix. Differences come from rendering aesthetics, not information asymmetry.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5577840" cy="54864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1031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OpenAI · chatgpt-image-latest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55778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7889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14600" y="27889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studio / catalog frames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3291840"/>
            <a:ext cx="512064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35584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14600" y="335584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 to palette cues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3858768"/>
            <a:ext cx="512064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92277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on product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14600" y="392277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words render OK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" y="4425696"/>
            <a:ext cx="512064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48970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14600" y="448970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'no foam, no splash' reliably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77240" y="4992624"/>
            <a:ext cx="512064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0566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514600" y="505663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generic seal silhouettes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7240" y="5559552"/>
            <a:ext cx="512064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56235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514600" y="56235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+ macro detail shots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63640" y="2103120"/>
            <a:ext cx="5532120" cy="5486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210312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Gemini · 3.1-flash-image-preview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63640" y="2651760"/>
            <a:ext cx="55321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27889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229600" y="27889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background + environment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92240" y="3291840"/>
            <a:ext cx="507492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0" y="335584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229600" y="335584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Richer, warmer, occasional boost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492240" y="3858768"/>
            <a:ext cx="507492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92240" y="392277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on product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229600" y="3922776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label detail = more hallucination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492240" y="4425696"/>
            <a:ext cx="507492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92240" y="448970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229600" y="4489704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 generates excluded elements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492240" y="4992624"/>
            <a:ext cx="507492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92240" y="50566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229600" y="5056632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Hallucinated label characters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492240" y="5559552"/>
            <a:ext cx="507492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92240" y="56235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229600" y="56235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Consumer-in-use lifestyle shots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CMU 94-844 · Generative AI Lab · Spring 2026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2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· AGENTIC WORKFLOW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Supervisor Orchestrates Five Agents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sequence · validated handoffs · typed JSON artifacts · loud failures (no silent merges)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2103120"/>
            <a:ext cx="2011680" cy="1371600"/>
          </a:xfrm>
          <a:prstGeom prst="rect">
            <a:avLst/>
          </a:prstGeom>
          <a:solidFill>
            <a:srgbClr val="1E2761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103120"/>
            <a:ext cx="201168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3317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 · Data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+ reviews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 rot="5400000">
            <a:off x="2642616" y="2697480"/>
            <a:ext cx="155448" cy="182880"/>
          </a:xfrm>
          <a:prstGeom prst="rtTriangl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0" y="2103120"/>
            <a:ext cx="2011680" cy="1371600"/>
          </a:xfrm>
          <a:prstGeom prst="rect">
            <a:avLst/>
          </a:prstGeom>
          <a:solidFill>
            <a:srgbClr val="1E2761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34640" y="2103120"/>
            <a:ext cx="201168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71800" y="23317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 · Analyst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971800" y="28346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ReviewImageryBrief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 rot="5400000">
            <a:off x="4882896" y="2697480"/>
            <a:ext cx="155448" cy="182880"/>
          </a:xfrm>
          <a:prstGeom prst="rtTriangl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74920" y="2103120"/>
            <a:ext cx="2011680" cy="1371600"/>
          </a:xfrm>
          <a:prstGeom prst="rect">
            <a:avLst/>
          </a:prstGeom>
          <a:solidFill>
            <a:srgbClr val="1E2761"/>
          </a:solidFill>
          <a:ln w="25400">
            <a:solidFill>
              <a:srgbClr val="EC489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74920" y="2103120"/>
            <a:ext cx="2011680" cy="7315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0" y="23317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 · Creative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212080" y="28346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CreativePromptPack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 rot="5400000">
            <a:off x="7123176" y="2697480"/>
            <a:ext cx="155448" cy="182880"/>
          </a:xfrm>
          <a:prstGeom prst="rtTriangl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0" y="2103120"/>
            <a:ext cx="2011680" cy="1371600"/>
          </a:xfrm>
          <a:prstGeom prst="rect">
            <a:avLst/>
          </a:prstGeom>
          <a:solidFill>
            <a:srgbClr val="1E2761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2103120"/>
            <a:ext cx="20116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52360" y="23317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Image Gen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52360" y="28346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DALL·E 3 + Gemini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 rot="5400000">
            <a:off x="9363456" y="2697480"/>
            <a:ext cx="155448" cy="182880"/>
          </a:xfrm>
          <a:prstGeom prst="rtTriangl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555480" y="2103120"/>
            <a:ext cx="2011680" cy="1371600"/>
          </a:xfrm>
          <a:prstGeom prst="rect">
            <a:avLst/>
          </a:prstGeom>
          <a:solidFill>
            <a:srgbClr val="1E2761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555480" y="2103120"/>
            <a:ext cx="201168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92640" y="23317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VLM Critic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92640" y="28346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· Reject · Revise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94360" y="3749040"/>
            <a:ext cx="10972800" cy="5029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37490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(src/agent.py)  ·  orders steps · logs q2_analyst / q3_creative · enforces shot_index match at merge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47472" y="4526280"/>
            <a:ext cx="11466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ENGINEERING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47472" y="4846320"/>
            <a:ext cx="2743200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2A357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" y="5029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Structured Output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0352" y="54406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schemas + JSON response_format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55264" y="4846320"/>
            <a:ext cx="2743200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2A357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38144" y="5029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Bounded Retries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438144" y="54406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attempts · temp=0 on retry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163056" y="4846320"/>
            <a:ext cx="2743200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2A357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45936" y="5029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Telemetry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345936" y="54406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agent_id · attempts · duration · tokens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9070848" y="4846320"/>
            <a:ext cx="2743200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2A357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253728" y="5029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Loud Failures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9253728" y="54406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shot_index mismatch → explicit error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CMU 94-844 · Generative AI Lab · Spring 2026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164592" cy="16459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484632"/>
            <a:ext cx="411480" cy="1828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4440" y="3200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LOOP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VLM Critic That Catches Diffusion Failures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 critic at all?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DALL·E 3 and Gemini 3.1-flash introduce predictable artifacts: unreadable micro-text, anatomical errors, floating or impossibly-balanced objects. A second agent — gpt-5-mini as VLM — grades each output against the originating prompt.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5661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Three-stage loop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4069080"/>
            <a:ext cx="365760" cy="36576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069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3977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427024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 image + prompt → VLM scoring against brand / category rubric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782312"/>
            <a:ext cx="365760" cy="36576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782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46908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Reject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498348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Failing image archived to /rejected/ with rejection_feedback.json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5495544"/>
            <a:ext cx="365760" cy="36576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54955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54041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Revise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51560" y="569671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Suggested_prompt_revision fed back into image generator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0" y="1554480"/>
            <a:ext cx="5394960" cy="470916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1554480"/>
            <a:ext cx="539496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9400" y="1737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629400" y="20116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CeraVe · Gemini · extra-arm artifact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6629400" y="2606040"/>
            <a:ext cx="2423160" cy="3383280"/>
          </a:xfrm>
          <a:prstGeom prst="rect">
            <a:avLst/>
          </a:prstGeom>
          <a:solidFill>
            <a:srgbClr val="2A3570"/>
          </a:solidFill>
          <a:ln w="12700">
            <a:solidFill>
              <a:srgbClr val="2A357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29400" y="26974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629400" y="306324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✗</a:t>
            </a:r>
            <a:endParaRPr lang="en-US" sz="7200" dirty="0"/>
          </a:p>
        </p:txBody>
      </p:sp>
      <p:sp>
        <p:nvSpPr>
          <p:cNvPr id="28" name="Text 26"/>
          <p:cNvSpPr/>
          <p:nvPr/>
        </p:nvSpPr>
        <p:spPr>
          <a:xfrm>
            <a:off x="6766560" y="4297680"/>
            <a:ext cx="2148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Anatomical error: a hallucinated third arm pumping the lotion bottle.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144000" y="2606040"/>
            <a:ext cx="2423160" cy="3383280"/>
          </a:xfrm>
          <a:prstGeom prst="rect">
            <a:avLst/>
          </a:prstGeom>
          <a:solidFill>
            <a:srgbClr val="1B4B3A"/>
          </a:solidFill>
          <a:ln w="12700">
            <a:solidFill>
              <a:srgbClr val="1B4B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0" y="26974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144000" y="306324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7200" dirty="0"/>
          </a:p>
        </p:txBody>
      </p:sp>
      <p:sp>
        <p:nvSpPr>
          <p:cNvPr id="32" name="Text 30"/>
          <p:cNvSpPr/>
          <p:nvPr/>
        </p:nvSpPr>
        <p:spPr>
          <a:xfrm>
            <a:off x="9281160" y="4297680"/>
            <a:ext cx="2148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Revised prompt removed ambiguous staging. Anatomy correct, composition preserved.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CMU 94-844 · Generative AI Lab · Spring 2026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164592" cy="16459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484632"/>
            <a:ext cx="411480" cy="1828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4440" y="3200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Hero-Shot Evaluation (VLM Scoring, 1–5)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hero shots (3 products × 2 models) were scored by gpt-5.4-mini on 5 dimensions. Overall mean: 4.7 / 5.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88620" y="205740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8620" y="2057400"/>
            <a:ext cx="73152" cy="16002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2940" y="22860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4.7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662940" y="31089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mean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68980" y="205740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68980" y="2057400"/>
            <a:ext cx="73152" cy="160020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43300" y="22860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5.0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3543300" y="31089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palette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49340" y="205740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49340" y="2057400"/>
            <a:ext cx="73152" cy="160020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3660" y="22860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5.0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6423660" y="31089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/ text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29700" y="205740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029700" y="2057400"/>
            <a:ext cx="73152" cy="16002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04020" y="22860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4.2</a:t>
            </a:r>
            <a:endParaRPr lang="en-US" sz="5200" dirty="0"/>
          </a:p>
        </p:txBody>
      </p:sp>
      <p:sp>
        <p:nvSpPr>
          <p:cNvPr id="22" name="Text 20"/>
          <p:cNvSpPr/>
          <p:nvPr/>
        </p:nvSpPr>
        <p:spPr>
          <a:xfrm>
            <a:off x="9304020" y="31089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Photorealism (weakest)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3840480"/>
            <a:ext cx="11247120" cy="36576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840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011680" y="3840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83280" y="38404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63440" y="38404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72200" y="3840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543800" y="38404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778240" y="38404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195560" y="38404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4206240"/>
            <a:ext cx="112471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2062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 Bed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011680" y="4206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383280" y="42062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663440" y="42062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172200" y="4206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543800" y="42062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778240" y="42062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195560" y="42062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48640" y="4526280"/>
            <a:ext cx="11247120" cy="320040"/>
          </a:xfrm>
          <a:prstGeom prst="rect">
            <a:avLst/>
          </a:prstGeom>
          <a:solidFill>
            <a:srgbClr val="F0EFE8"/>
          </a:solidFill>
          <a:ln w="12700">
            <a:solidFill>
              <a:srgbClr val="F0EF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4526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 Bed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011680" y="45262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383280" y="45262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663440" y="45262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172200" y="45262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543800" y="452628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778240" y="45262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0195560" y="45262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48640" y="4846320"/>
            <a:ext cx="112471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8640" y="4846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CeraVe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2011680" y="4846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3383280" y="48463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663440" y="48463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172200" y="4846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7543800" y="48463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8778240" y="48463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10195560" y="48463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548640" y="5166360"/>
            <a:ext cx="11247120" cy="320040"/>
          </a:xfrm>
          <a:prstGeom prst="rect">
            <a:avLst/>
          </a:prstGeom>
          <a:solidFill>
            <a:srgbClr val="F0EFE8"/>
          </a:solidFill>
          <a:ln w="12700">
            <a:solidFill>
              <a:srgbClr val="F0EFE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8640" y="51663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CeraVe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2011680" y="5166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3383280" y="51663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4663440" y="51663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6172200" y="5166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7543800" y="51663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8778240" y="51663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10195560" y="51663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548640" y="5486400"/>
            <a:ext cx="112471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48640" y="5486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 Washer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2011680" y="54864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3383280" y="5486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4663440" y="54864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6172200" y="54864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7543800" y="548640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8778240" y="54864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10195560" y="54864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548640" y="5806440"/>
            <a:ext cx="11247120" cy="320040"/>
          </a:xfrm>
          <a:prstGeom prst="rect">
            <a:avLst/>
          </a:prstGeom>
          <a:solidFill>
            <a:srgbClr val="F0EFE8"/>
          </a:solidFill>
          <a:ln w="12700">
            <a:solidFill>
              <a:srgbClr val="F0EFE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48640" y="5806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 Washer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2011680" y="5806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3383280" y="5806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4663440" y="58064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6172200" y="5806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7543800" y="58064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8778240" y="58064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10195560" y="58064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548640" y="6126480"/>
            <a:ext cx="11247120" cy="347472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48640" y="61264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2011680" y="61264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89" name="Text 87"/>
          <p:cNvSpPr/>
          <p:nvPr/>
        </p:nvSpPr>
        <p:spPr>
          <a:xfrm>
            <a:off x="3383280" y="61264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</a:t>
            </a:r>
            <a:endParaRPr lang="en-US" sz="1100" dirty="0"/>
          </a:p>
        </p:txBody>
      </p:sp>
      <p:sp>
        <p:nvSpPr>
          <p:cNvPr id="90" name="Text 88"/>
          <p:cNvSpPr/>
          <p:nvPr/>
        </p:nvSpPr>
        <p:spPr>
          <a:xfrm>
            <a:off x="4663440" y="612648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</a:t>
            </a:r>
            <a:endParaRPr lang="en-US" sz="1100" dirty="0"/>
          </a:p>
        </p:txBody>
      </p:sp>
      <p:sp>
        <p:nvSpPr>
          <p:cNvPr id="91" name="Text 89"/>
          <p:cNvSpPr/>
          <p:nvPr/>
        </p:nvSpPr>
        <p:spPr>
          <a:xfrm>
            <a:off x="6172200" y="61264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</a:t>
            </a:r>
            <a:endParaRPr lang="en-US" sz="1100" dirty="0"/>
          </a:p>
        </p:txBody>
      </p:sp>
      <p:sp>
        <p:nvSpPr>
          <p:cNvPr id="92" name="Text 90"/>
          <p:cNvSpPr/>
          <p:nvPr/>
        </p:nvSpPr>
        <p:spPr>
          <a:xfrm>
            <a:off x="7543800" y="612648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</a:t>
            </a:r>
            <a:endParaRPr lang="en-US" sz="1100" dirty="0"/>
          </a:p>
        </p:txBody>
      </p:sp>
      <p:sp>
        <p:nvSpPr>
          <p:cNvPr id="93" name="Text 91"/>
          <p:cNvSpPr/>
          <p:nvPr/>
        </p:nvSpPr>
        <p:spPr>
          <a:xfrm>
            <a:off x="8778240" y="61264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</a:t>
            </a:r>
            <a:endParaRPr lang="en-US" sz="1100" dirty="0"/>
          </a:p>
        </p:txBody>
      </p:sp>
      <p:sp>
        <p:nvSpPr>
          <p:cNvPr id="94" name="Text 92"/>
          <p:cNvSpPr/>
          <p:nvPr/>
        </p:nvSpPr>
        <p:spPr>
          <a:xfrm>
            <a:off x="10195560" y="612648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</a:t>
            </a:r>
            <a:endParaRPr lang="en-US" sz="1100" dirty="0"/>
          </a:p>
        </p:txBody>
      </p:sp>
      <p:sp>
        <p:nvSpPr>
          <p:cNvPr id="95" name="Text 9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CMU 94-844 · Generative AI Lab · Spring 2026</a:t>
            </a:r>
            <a:endParaRPr lang="en-US" sz="1000" dirty="0"/>
          </a:p>
        </p:txBody>
      </p:sp>
      <p:sp>
        <p:nvSpPr>
          <p:cNvPr id="96" name="Text 94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164592" cy="16459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484632"/>
            <a:ext cx="411480" cy="1828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4440" y="3200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&amp; Lessons Learned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11480" y="1645920"/>
            <a:ext cx="365760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645920"/>
            <a:ext cx="3657600" cy="64008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37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63040" y="1737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VLM Over-Constraint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2468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27432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critic rejected photorealistic images for minor background drift. False-rejection rate was unsustainably high.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4251960"/>
            <a:ext cx="3108960" cy="1828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4389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466344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Recalibrated prompt to tolerate deviations from strict textual literalism when realism and physics held. Rejection rate dropped; visual quality preserved.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51960" y="1645920"/>
            <a:ext cx="365760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51960" y="1645920"/>
            <a:ext cx="3657600" cy="64008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1737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303520" y="1737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Infrastructure &gt; Model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26280" y="2468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26280" y="27432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Base64-encoded PNG payloads (&gt;4MB) to gpt-5-mini triggered SSLV3_ALERT_BAD_RECORD_MAC errors — a network-stack failure, not a model failure.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26280" y="4251960"/>
            <a:ext cx="3108960" cy="1828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26280" y="4389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26280" y="466344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JPEG compression at 85% (≈300KB payload), exponential backoff on transient drops. Reliable pipelines are a software engineering problem.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92440" y="1645920"/>
            <a:ext cx="365760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92440" y="1645920"/>
            <a:ext cx="3657600" cy="64008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66760" y="1737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144000" y="1737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Scene per Prompt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366760" y="2468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366760" y="27432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Packing multiple visual ideas into a single prompt caused catastrophic label hallucinations. Diffusion can't render regulatory micro-text.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366760" y="4251960"/>
            <a:ext cx="3108960" cy="1828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66760" y="4389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366760" y="466344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one-scene-per-prompt discipline. Instruct models to obscure small text in favor of silhouette. Decomposed steps beat monolithic prompts.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CMU 94-844 · Generative AI Lab · Spring 2026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2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731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things we'd carry into a production pipeline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5394960" cy="2011680"/>
          </a:xfrm>
          <a:prstGeom prst="rect">
            <a:avLst/>
          </a:prstGeom>
          <a:solidFill>
            <a:srgbClr val="1E2761"/>
          </a:solidFill>
          <a:ln w="12700">
            <a:solidFill>
              <a:srgbClr val="2A35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148840"/>
            <a:ext cx="73152" cy="20116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3774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C7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28346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 &gt; raw prompting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97280" y="329184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JSON handoffs + Pydantic validation caught silent drift that monolithic prompts would have hidden.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92240" y="2148840"/>
            <a:ext cx="5394960" cy="2011680"/>
          </a:xfrm>
          <a:prstGeom prst="rect">
            <a:avLst/>
          </a:prstGeom>
          <a:solidFill>
            <a:srgbClr val="1E2761"/>
          </a:solidFill>
          <a:ln w="12700">
            <a:solidFill>
              <a:srgbClr val="2A357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2148840"/>
            <a:ext cx="73152" cy="20116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0" y="23774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C7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766560" y="28346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agent per reasoning step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766560" y="329184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Analyst, Creative Director, VLM Critic — each with one clear job — reliably outperformed any single large prompt.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4343400"/>
            <a:ext cx="5394960" cy="2011680"/>
          </a:xfrm>
          <a:prstGeom prst="rect">
            <a:avLst/>
          </a:prstGeom>
          <a:solidFill>
            <a:srgbClr val="1E2761"/>
          </a:solidFill>
          <a:ln w="12700">
            <a:solidFill>
              <a:srgbClr val="2A357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4343400"/>
            <a:ext cx="73152" cy="20116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45720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C7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97280" y="50292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selection per shot role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097280" y="54864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for pack-shots and macro detail. Gemini for lifestyle and environmental context. Choose per job, not per project.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92240" y="4343400"/>
            <a:ext cx="5394960" cy="2011680"/>
          </a:xfrm>
          <a:prstGeom prst="rect">
            <a:avLst/>
          </a:prstGeom>
          <a:solidFill>
            <a:srgbClr val="1E2761"/>
          </a:solidFill>
          <a:ln w="12700">
            <a:solidFill>
              <a:srgbClr val="2A357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0" y="4343400"/>
            <a:ext cx="73152" cy="20116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45720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C7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766560" y="50292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Harness beats model choice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766560" y="54864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retries, schema validation, telemetry, and a VLM critic did more for output quality than swapping base models.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" y="6263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9C7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229600" y="62636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Generating Product Images from Customer Reviews</dc:title>
  <dc:subject>PptxGenJS Presentation</dc:subject>
  <dc:creator>CMU 94-844 Team</dc:creator>
  <cp:lastModifiedBy>CMU 94-844 Team</cp:lastModifiedBy>
  <cp:revision>1</cp:revision>
  <dcterms:created xsi:type="dcterms:W3CDTF">2026-04-21T18:06:54Z</dcterms:created>
  <dcterms:modified xsi:type="dcterms:W3CDTF">2026-04-21T18:06:54Z</dcterms:modified>
</cp:coreProperties>
</file>